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2" Type="http://schemas.openxmlformats.org/officeDocument/2006/relationships/viewProps" Target="viewProps.xml" /><Relationship Id="rId21" Type="http://schemas.openxmlformats.org/officeDocument/2006/relationships/presProps" Target="presProps.xml" /><Relationship Id="rId1" Type="http://schemas.openxmlformats.org/officeDocument/2006/relationships/slideMaster" Target="slideMasters/slideMaster1.xml" /><Relationship Id="rId24" Type="http://schemas.openxmlformats.org/officeDocument/2006/relationships/tableStyles" Target="tableStyles.xml" /><Relationship Id="rId2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sv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9.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9.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9.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globalbioticinteractions/fred" TargetMode="External" /><Relationship Id="rId3" Type="http://schemas.openxmlformats.org/officeDocument/2006/relationships/hyperlink" Target="https://github.com/globalbioticinteractions/maarjam" TargetMode="External" /><Relationship Id="rId4" Type="http://schemas.openxmlformats.org/officeDocument/2006/relationships/hyperlink" Target="https://doi.org/10.5281/zenodo.20547776" TargetMode="External" /><Relationship Id="rId5" Type="http://schemas.openxmlformats.org/officeDocument/2006/relationships/hyperlink" Target="https://doi.org/10.5281/zenodo.20548434" TargetMode="External" /><Relationship Id="rId6" Type="http://schemas.openxmlformats.org/officeDocument/2006/relationships/hyperlink" Target="https://github.com/jhpoelen/fungal-plant-host-overlap/tree/0faeeeae123b5d8f53576feb1d607ffb5d2bd3ac"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9.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MicrobeNetNet - Connecting Datasets/Nodes/Networks Across Disciplinary Siloes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as reflected in data connections</a:t>
            </a:r>
            <a:br/>
            <a:br/>
            <a:r>
              <a:rPr/>
              <a:t>Jorrit Poelen (UC Santa Barbara Cheadle Center, Ronin Institute)</a:t>
            </a:r>
          </a:p>
        </p:txBody>
      </p:sp>
      <p:sp>
        <p:nvSpPr>
          <p:cNvPr id="4" name="Date Placeholder 3"/>
          <p:cNvSpPr>
            <a:spLocks noGrp="1"/>
          </p:cNvSpPr>
          <p:nvPr>
            <p:ph idx="10" sz="half" type="dt"/>
          </p:nvPr>
        </p:nvSpPr>
        <p:spPr/>
        <p:txBody>
          <a:bodyPr/>
          <a:lstStyle/>
          <a:p>
            <a:pPr lvl="0" indent="0" marL="0">
              <a:buNone/>
            </a:pPr>
            <a:r>
              <a:rPr/>
              <a:t>2026-09-11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creativecommons.org/wp-content/themes/vocabulary-theme/vocabulary/svg/cc/license_badges/big/by.svg"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https://creativecommons.org/licenses/by/4.0/</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Guiding Questions</a:t>
            </a:r>
          </a:p>
        </p:txBody>
      </p:sp>
      <p:sp>
        <p:nvSpPr>
          <p:cNvPr id="3" name="Content Placeholder 2"/>
          <p:cNvSpPr>
            <a:spLocks noGrp="1"/>
          </p:cNvSpPr>
          <p:nvPr>
            <p:ph idx="1"/>
          </p:nvPr>
        </p:nvSpPr>
        <p:spPr/>
        <p:txBody>
          <a:bodyPr/>
          <a:lstStyle/>
          <a:p>
            <a:pPr lvl="0" indent="0" marL="0">
              <a:spcBef>
                <a:spcPts val="3000"/>
              </a:spcBef>
              <a:buNone/>
            </a:pPr>
            <a:r>
              <a:rPr b="1"/>
              <a:t>Hey, are we unsiloed yet?</a:t>
            </a:r>
          </a:p>
          <a:p>
            <a:pPr lvl="0" indent="0" marL="0">
              <a:spcBef>
                <a:spcPts val="3000"/>
              </a:spcBef>
              <a:buNone/>
            </a:pPr>
            <a:r>
              <a:rPr b="1"/>
              <a:t>Do </a:t>
            </a:r>
            <a:r>
              <a:rPr b="1" i="1"/>
              <a:t>you</a:t>
            </a:r>
            <a:r>
              <a:rPr b="1"/>
              <a:t> have examples of unsilo-ing?</a:t>
            </a:r>
          </a:p>
          <a:p>
            <a:pPr lvl="0" indent="0" marL="0">
              <a:spcBef>
                <a:spcPts val="3000"/>
              </a:spcBef>
              <a:buNone/>
            </a:pPr>
            <a:r>
              <a:rPr b="1"/>
              <a:t>How do </a:t>
            </a:r>
            <a:r>
              <a:rPr b="1" i="1"/>
              <a:t>you</a:t>
            </a:r>
            <a:r>
              <a:rPr b="1"/>
              <a:t> think we should unsilo?</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Ben’s Challenge to Jorrit</a:t>
            </a:r>
          </a:p>
        </p:txBody>
      </p:sp>
      <p:sp>
        <p:nvSpPr>
          <p:cNvPr id="3" name="Content Placeholder 2"/>
          <p:cNvSpPr>
            <a:spLocks noGrp="1"/>
          </p:cNvSpPr>
          <p:nvPr>
            <p:ph idx="1"/>
          </p:nvPr>
        </p:nvSpPr>
        <p:spPr/>
        <p:txBody>
          <a:bodyPr/>
          <a:lstStyle/>
          <a:p>
            <a:pPr lvl="0" indent="0" marL="1270000">
              <a:buNone/>
            </a:pPr>
            <a:r>
              <a:rPr sz="2000"/>
              <a:t>[…] New Datasets/Nodes/Networks that might be connected (Jorrit)</a:t>
            </a:r>
          </a:p>
          <a:p>
            <a:pPr lvl="0" indent="-342900" marL="342900">
              <a:buAutoNum type="arabicPeriod"/>
            </a:pPr>
            <a:r>
              <a:rPr sz="2000"/>
              <a:t>What data are there (plain language summaries)?</a:t>
            </a:r>
          </a:p>
          <a:p>
            <a:pPr lvl="0" indent="-342900" marL="342900">
              <a:buAutoNum type="arabicPeriod"/>
            </a:pPr>
            <a:r>
              <a:rPr sz="2000"/>
              <a:t>How can people access what are there?</a:t>
            </a:r>
          </a:p>
          <a:p>
            <a:pPr lvl="0" indent="-342900" marL="342900">
              <a:buAutoNum type="arabicPeriod"/>
            </a:pPr>
            <a:r>
              <a:rPr sz="2000"/>
              <a:t>Case study, Review example of FRED and MaarjAM networks - how you found the data, wed them. Generalizable for other efforts? […] </a:t>
            </a:r>
            <a:r>
              <a:rPr sz="2000" baseline="30000">
                <a:hlinkClick r:id="rId2" action="ppaction://hlinksldjump"/>
              </a:rPr>
              <a:t>1</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Revisiting MN^N Theme and Grand Challenge.</a:t>
            </a:r>
          </a:p>
        </p:txBody>
      </p:sp>
      <p:sp>
        <p:nvSpPr>
          <p:cNvPr id="3" name="Content Placeholder 2"/>
          <p:cNvSpPr>
            <a:spLocks noGrp="1"/>
          </p:cNvSpPr>
          <p:nvPr>
            <p:ph idx="1"/>
          </p:nvPr>
        </p:nvSpPr>
        <p:spPr/>
        <p:txBody>
          <a:bodyPr/>
          <a:lstStyle/>
          <a:p>
            <a:pPr lvl="0" indent="0" marL="1270000">
              <a:buNone/>
            </a:pPr>
            <a:r>
              <a:rPr sz="2000"/>
              <a:t>[…] MICROBENet^Net </a:t>
            </a:r>
            <a:r>
              <a:rPr sz="2000" baseline="30000">
                <a:hlinkClick r:id="rId2" action="ppaction://hlinksldjump"/>
              </a:rPr>
              <a:t>2</a:t>
            </a:r>
            <a:r>
              <a:rPr sz="2000"/>
              <a:t>[1] Theme and Grand Challenge: Plants and microorganisms regulate a diverse array of processes that modulate the Earth system. Yet, we know remarkably little about how variable plant-microbial interactions are across the globe, how microbial connections with plants respond to global change, and if changes in plant-microbe interactions will lead to predictable changes in plant, ecosystem, and macro-scale ecology. While microbial ecologists and plant ecologists both explore questions about geography, interactions, and function, this work has often occurred in plant or microbial silos. </a:t>
            </a:r>
            <a:r>
              <a:rPr sz="2000" b="1"/>
              <a:t>Focusing on either plants or microbes resulted in the development of distinct disciplinary vocabularies and meanings, even when using similar tools and asking questions across similar scales.</a:t>
            </a:r>
            <a:r>
              <a:rPr sz="2000"/>
              <a:t> […]</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MN^N 2025 Colloquium in Knoxville, TN.</a:t>
            </a:r>
          </a:p>
        </p:txBody>
      </p:sp>
      <p:pic>
        <p:nvPicPr>
          <p:cNvPr descr="img/MNN-group-photo-colloquium-2025.jpeg"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Among many others, FRED and MaarjAM meet in Knoxville, TN in 2025</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r>
              <a:rPr baseline="30000">
                <a:hlinkClick r:id="rId2" action="ppaction://hlinksldjump"/>
              </a:rPr>
              <a:t>3</a:t>
            </a:r>
            <a:r>
              <a:rPr/>
              <a: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MN^N 2025 Colloquium in Knoxville, TN. FRED and MaarjAM meet.</a:t>
            </a:r>
          </a:p>
        </p:txBody>
      </p:sp>
      <p:pic>
        <p:nvPicPr>
          <p:cNvPr descr="img/MNN-group-photo-colloquium-2025-marked.jpeg"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Among many others, FRED and MaarjAM meet in Knoxville, TN in 2025</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r>
              <a:rPr baseline="30000">
                <a:hlinkClick r:id="rId2" action="ppaction://hlinksldjump"/>
              </a:rPr>
              <a:t>4</a:t>
            </a:r>
            <a:r>
              <a:rPr/>
              <a: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FRED and MaarjAM</a:t>
            </a:r>
          </a:p>
        </p:txBody>
      </p:sp>
      <p:sp>
        <p:nvSpPr>
          <p:cNvPr id="3" name="Content Placeholder 2"/>
          <p:cNvSpPr>
            <a:spLocks noGrp="1"/>
          </p:cNvSpPr>
          <p:nvPr>
            <p:ph idx="1"/>
          </p:nvPr>
        </p:nvSpPr>
        <p:spPr/>
        <p:txBody>
          <a:bodyPr/>
          <a:lstStyle/>
          <a:p>
            <a:pPr lvl="0"/>
            <a:r>
              <a:rPr/>
              <a:t>FRED/MaarjAM met in person and data (csv, xslx-&gt;csv) was shared in person</a:t>
            </a:r>
          </a:p>
          <a:p>
            <a:pPr lvl="0"/>
            <a:r>
              <a:rPr/>
              <a:t>FRED/MaarjAM data openly published</a:t>
            </a:r>
          </a:p>
          <a:p>
            <a:pPr lvl="1"/>
            <a:r>
              <a:rPr>
                <a:hlinkClick r:id="rId2"/>
              </a:rPr>
              <a:t>https://github.com/globalbioticinteractions/fred</a:t>
            </a:r>
          </a:p>
          <a:p>
            <a:pPr lvl="1"/>
            <a:r>
              <a:rPr>
                <a:hlinkClick r:id="rId3"/>
              </a:rPr>
              <a:t>https://github.com/globalbioticinteractions/maarjam</a:t>
            </a:r>
          </a:p>
          <a:p>
            <a:pPr lvl="0"/>
            <a:r>
              <a:rPr/>
              <a:t>GloBI integration tools used to connect FRED/MaarjAM via plant taxonomic names (World of Flora Online)</a:t>
            </a:r>
          </a:p>
          <a:p>
            <a:pPr lvl="0"/>
            <a:r>
              <a:rPr/>
              <a:t>Early applications include GloBI Data Reviews and Plant Overlap Analysis.</a:t>
            </a:r>
          </a:p>
          <a:p>
            <a:pPr lvl="1"/>
            <a:r>
              <a:rPr>
                <a:hlinkClick r:id="rId4"/>
              </a:rPr>
              <a:t>Elton, Nomer, &amp; Preston. (2026). Versioned Archive and Review of Biotic Interactions and Taxon Names Found within globalbioticinteractions/fred hash://md5/6db551793883f575d828d8a600e1af72. Zenodo. https://doi.org/10.5281/zenodo.20547776</a:t>
            </a:r>
          </a:p>
          <a:p>
            <a:pPr lvl="1"/>
            <a:r>
              <a:rPr>
                <a:hlinkClick r:id="rId5"/>
              </a:rPr>
              <a:t>Elton, Nomer, &amp; Preston. (2026). Versioned Archive and Review of Biotic Interactions and Taxon Names Found within globalbioticinteractions/maarjam hash://md5/4578fcd83fceba1f11c269d8aaf1118a. Zenodo. https://doi.org/10.5281/zenodo.20548434</a:t>
            </a:r>
          </a:p>
          <a:p>
            <a:pPr lvl="1"/>
            <a:r>
              <a:rPr>
                <a:hlinkClick r:id="rId6"/>
              </a:rPr>
              <a:t>https://github.com/jhpoelen/fungal-plant-host-overlap/tree/0faeeeae123b5d8f53576feb1d607ffb5d2bd3ac</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A “Plain Language” (NSF) Update</a:t>
            </a:r>
          </a:p>
        </p:txBody>
      </p:sp>
      <p:sp>
        <p:nvSpPr>
          <p:cNvPr id="3" name="Content Placeholder 2"/>
          <p:cNvSpPr>
            <a:spLocks noGrp="1"/>
          </p:cNvSpPr>
          <p:nvPr>
            <p:ph idx="1"/>
          </p:nvPr>
        </p:nvSpPr>
        <p:spPr/>
        <p:txBody>
          <a:bodyPr/>
          <a:lstStyle/>
          <a:p>
            <a:pPr lvl="0" indent="0" marL="1270000">
              <a:buNone/>
            </a:pPr>
            <a:r>
              <a:rPr sz="2000"/>
              <a:t>Since the inaugural MicrobeNetNet ([1], MN^N) colloquium in Knoxville, TN 2025-03-20/2025-03-24 [2], Jorrit Poelen has collaborated with many MN^N participants and nodes to use existing methods [3,4] to review and integrate existing datasets, databases, and collections describing plant-microbe interactions into the openly accessible and citable MicrobeNetNet Data Review Corpus [5,6]. The </a:t>
            </a:r>
            <a:r>
              <a:rPr sz="2000" b="1"/>
              <a:t>2026-08-14 version of the MN^N Review Corpus is a global dataset containing over 7 million claims sourced from MycoPortal (a data portal of a consortium of Mycology Collections), USDA United States National Fungus Collections Fungus-Host Dataset, Microbial Atlas of Predicted Species (MAPS), AusTrait, Fine Root Ecology Database (FRED), MaarjAM, FungalTraits, FunFun, Global(AM)Fungi, International Collection of Microorganisms from Plants (ICMP), MycoDB, USDA ARS Culture Collection (NRRL), and Unite and more.</a:t>
            </a:r>
            <a:r>
              <a:rPr sz="2000"/>
              <a:t> […] We expect to continue to integrate existing datasets […], but also improve the data infrastructures [7] that help keep this openly data accessible. </a:t>
            </a:r>
            <a:r>
              <a:rPr sz="2000" baseline="30000">
                <a:hlinkClick r:id="rId2" action="ppaction://hlinksldjump"/>
              </a:rPr>
              <a:t>5</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MNˆN Dataset Review Corpus</a:t>
            </a:r>
          </a:p>
        </p:txBody>
      </p:sp>
      <p:pic>
        <p:nvPicPr>
          <p:cNvPr descr="img/MNN-Review-Corpus-On-Zenodo-2026-09-11.png" id="0" name="Picture 1"/>
          <p:cNvPicPr>
            <a:picLocks noGrp="1" noChangeAspect="1"/>
          </p:cNvPicPr>
          <p:nvPr/>
        </p:nvPicPr>
        <p:blipFill>
          <a:blip r:embed="rId2"/>
          <a:stretch>
            <a:fillRect/>
          </a:stretch>
        </p:blipFill>
        <p:spPr bwMode="auto">
          <a:xfrm>
            <a:off x="1676400" y="1193800"/>
            <a:ext cx="5791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Screenshot of MN^N Dataset Review Corpus https://doi.org/10.5281/zenodo.21940611 Zenodo Webpage accessed at 2026-09-11</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r>
              <a:rPr baseline="30000">
                <a:hlinkClick r:id="rId2" action="ppaction://hlinksldjump"/>
              </a:rPr>
              <a:t>6</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MNˆN Dataset Review Corpus</a:t>
            </a:r>
          </a:p>
        </p:txBody>
      </p:sp>
      <p:sp>
        <p:nvSpPr>
          <p:cNvPr id="3" name="Content Placeholder 2"/>
          <p:cNvSpPr>
            <a:spLocks noGrp="1"/>
          </p:cNvSpPr>
          <p:nvPr>
            <p:ph idx="1"/>
          </p:nvPr>
        </p:nvSpPr>
        <p:spPr/>
        <p:txBody>
          <a:bodyPr/>
          <a:lstStyle/>
          <a:p>
            <a:pPr lvl="0" indent="0">
              <a:buNone/>
            </a:pPr>
            <a:r>
              <a:rPr>
                <a:latin typeface="Courier"/>
              </a:rPr>
              <a:t>(You or Your Colleagues)
  -[:curate]-&gt;
    (Original Data)
      -[:usedIn]-&gt; 
       (MNN Data Review)
         -[:partOf]-&gt; 
            (MNN Data Review Corpus)
               -[:usedBy]-&gt;
                  (... everyone?)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we unsiloed yet? Example use.</a:t>
            </a:r>
          </a:p>
        </p:txBody>
      </p:sp>
      <p:pic>
        <p:nvPicPr>
          <p:cNvPr descr="img/MNN-slack-exchange-2026-07-27.png" id="0" name="Picture 1"/>
          <p:cNvPicPr>
            <a:picLocks noGrp="1" noChangeAspect="1"/>
          </p:cNvPicPr>
          <p:nvPr/>
        </p:nvPicPr>
        <p:blipFill>
          <a:blip r:embed="rId2"/>
          <a:stretch>
            <a:fillRect/>
          </a:stretch>
        </p:blipFill>
        <p:spPr bwMode="auto">
          <a:xfrm>
            <a:off x="1701800" y="1193800"/>
            <a:ext cx="5727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MN^N Slack Exchange in #tracking-databases channel on 2026-07-27 as accessed at https://app.slack.com/client/T068C6GQ1MW/C0AH89QFH9T on 2026-09-11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Guiding Questions</a:t>
            </a:r>
          </a:p>
        </p:txBody>
      </p:sp>
      <p:sp>
        <p:nvSpPr>
          <p:cNvPr id="3" name="Content Placeholder 2"/>
          <p:cNvSpPr>
            <a:spLocks noGrp="1"/>
          </p:cNvSpPr>
          <p:nvPr>
            <p:ph idx="1"/>
          </p:nvPr>
        </p:nvSpPr>
        <p:spPr/>
        <p:txBody>
          <a:bodyPr/>
          <a:lstStyle/>
          <a:p>
            <a:pPr lvl="0" indent="0" marL="0">
              <a:spcBef>
                <a:spcPts val="3000"/>
              </a:spcBef>
              <a:buNone/>
            </a:pPr>
            <a:r>
              <a:rPr b="1"/>
              <a:t>Hey, are we unsiloed yet?</a:t>
            </a:r>
          </a:p>
          <a:p>
            <a:pPr lvl="0" indent="0" marL="0">
              <a:spcBef>
                <a:spcPts val="3000"/>
              </a:spcBef>
              <a:buNone/>
            </a:pPr>
            <a:r>
              <a:rPr b="1"/>
              <a:t>Do </a:t>
            </a:r>
            <a:r>
              <a:rPr b="1" i="1"/>
              <a:t>you</a:t>
            </a:r>
            <a:r>
              <a:rPr b="1"/>
              <a:t> have examples of unsilo-ing?</a:t>
            </a:r>
          </a:p>
          <a:p>
            <a:pPr lvl="0" indent="0" marL="0">
              <a:spcBef>
                <a:spcPts val="3000"/>
              </a:spcBef>
              <a:buNone/>
            </a:pPr>
            <a:r>
              <a:rPr b="1"/>
              <a:t>How do </a:t>
            </a:r>
            <a:r>
              <a:rPr b="1" i="1"/>
              <a:t>you</a:t>
            </a:r>
            <a:r>
              <a:rPr b="1"/>
              <a:t> think we should unsilo?</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[1] Sikes, B.A., Zanne E.A., Classen, A.T, Kivlin S.N. (2024) MICROBENet-Net: Multi-Institute Collaborative Research on BElowground plant-microbial interactions Network of Networks. 2024/2028 NSF AccelNet Award 2412561 https://microbenetwork.net/ https://globalbioticinteractions.org/microbenetnet</a:t>
            </a:r>
          </a:p>
          <a:p>
            <a:pPr lvl="0" indent="0" marL="0">
              <a:buNone/>
            </a:pPr>
            <a:r>
              <a:rPr/>
              <a:t>[2] Sikes, B., Classen, A., Kivlin, S., Zanne, A.&amp; Holly Andres. (2025, May 29). 2025 MicrobeNet^Net Colloquium. Zenodo. 2025 MicrobeNet^Net Colloquium, Knoxville, TN. https://doi.org/10.5281/zenodo.15547951</a:t>
            </a:r>
          </a:p>
          <a:p>
            <a:pPr lvl="0" indent="0" marL="0">
              <a:buNone/>
            </a:pPr>
            <a:r>
              <a:rPr/>
              <a:t>[3] Jorrit H. Poelen, James D. Simons and Chris J. Mungall. (2014). Global Biotic Interactions: An open infrastructure to share and analyze species-interaction datasets. Ecological Informatics. https://doi.org/10.1016/j.ecoinf.2014.08.005.</a:t>
            </a:r>
          </a:p>
          <a:p>
            <a:pPr lvl="0" indent="0" marL="0">
              <a:buNone/>
            </a:pPr>
            <a:r>
              <a:rPr/>
              <a:t>[4] Elliott M.J., Poelen, J.H. &amp; Fortes, J.A.B. (2023) Signing data citations enables data verification and citation persistence. Sci Data. https://doi.org/10.1038/s41597-023-02230-y hash://sha256/f849c870565f608899f183ca261365dce9c9f1c5441b1c779e0db49df9c2a19d</a:t>
            </a:r>
          </a:p>
          <a:p>
            <a:pPr lvl="0" indent="0" marL="0">
              <a:buNone/>
            </a:pPr>
            <a:r>
              <a:rPr/>
              <a:t>[5] Poelen, J. H. (2026, Feb). MicrobeNetNet Dataset Review Corpus and Associated Data Products hash://md5/5981a37a16c25204dc18d9188f185b19 hash://sha256/7448991edd5f79db02519a5b3d4691c50a60c02f45d40f087402a7a492da3a3e [Data set]. Zenodo. https://doi.org/10.5281/zenodo.18793975</a:t>
            </a:r>
          </a:p>
          <a:p>
            <a:pPr lvl="0" indent="0" marL="0">
              <a:buNone/>
            </a:pPr>
            <a:r>
              <a:rPr/>
              <a:t>[6] Poelen, J. H. (2026). MicrobeNetNet Dataset Review Corpus and Associated Data Products hash://md5/5981a37a16c25204dc18d9188f185b19 hash://sha256/7448991edd5f79db02519a5b3d4691c50a60c02f45d40f087402a7a492da3a3e [Dataset]. Zenodo. https://doi.org/10.5281/zenodo.21940611</a:t>
            </a:r>
          </a:p>
          <a:p>
            <a:pPr lvl="0" indent="0" marL="0">
              <a:buNone/>
            </a:pPr>
            <a:r>
              <a:rPr/>
              <a:t>[7] Poelen, J. H. (2026) Data Dryad Feature Request: retrieve content by hash / checksum. GitHub. See also https://github.com/datadryad/dryad-app/pull/3107 https://github.com/datadryad/dryad-product-roadmap/issues/5182</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Sikes, B. 2026-09-08. Pers. Comm.</a:t>
            </a:r>
          </a:p>
          <a:p>
            <a:pPr lvl="0" indent="0" marL="0">
              <a:buNone/>
            </a:pPr>
            <a:r>
              <a:rPr sz="1800"/>
              <a:t>2. Sikes, B.A., Zanne E.A., Classen, A.T, Kivlin S.N. (2024) MICROBENet-Net: Multi-Institute Collaborative Research on BElowground plant-microbial interactions Network of Networks. 2024/2028 NSF AccelNet Award 2412561 https://microbenetwork.net/ https://globalbioticinteractions.org/microbenetnet</a:t>
            </a:r>
          </a:p>
          <a:p>
            <a:pPr lvl="0" indent="0" marL="0">
              <a:buNone/>
            </a:pPr>
            <a:r>
              <a:rPr sz="1800"/>
              <a:t>3. Sikes, B., Classen, A., Kivlin, S., Zanne, A.&amp; Holly Andres. (2025, May 29). 2025 MicrobeNet^Net Colloquium. Zenodo. 2025 MicrobeNet^Net Colloquium, Knoxville, TN. https://doi.org/10.5281/zenodo.15547951</a:t>
            </a:r>
          </a:p>
          <a:p>
            <a:pPr lvl="0" indent="0" marL="0">
              <a:buNone/>
            </a:pPr>
            <a:r>
              <a:rPr sz="1800"/>
              <a:t>4. Sikes, B., Classen, A., Kivlin, S., Zanne, A.&amp; Holly Andres. (2025, May 29). 2025 MicrobeNet^Net Colloquium. Zenodo. 2025 MicrobeNet^Net Colloquium, Knoxville, TN. https://doi.org/10.5281/zenodo.15547951</a:t>
            </a:r>
          </a:p>
          <a:p>
            <a:pPr lvl="0" indent="0" marL="0">
              <a:buNone/>
            </a:pPr>
            <a:r>
              <a:rPr sz="1800"/>
              <a:t>5. Excerpt from Jorrit’s update submitted to Ben for NSF report on 2026-08-14</a:t>
            </a:r>
          </a:p>
          <a:p>
            <a:pPr lvl="0" indent="0" marL="0">
              <a:buNone/>
            </a:pPr>
            <a:r>
              <a:rPr sz="1800"/>
              <a:t>6. Poelen, J. H. (2026). MicrobeNetNet Dataset Review Corpus and Associated Data Products hash://md5/5981a37a16c25204dc18d9188f185b19 hash://sha256/7448991edd5f79db02519a5b3d4691c50a60c02f45d40f087402a7a492da3a3e [Dataset]. Zenodo. https://doi.org/10.5281/zenodo.21940611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MicrobeNetNet - Connecting Datasets/Nodes/Networks Across Disciplinary Siloes</dc:title>
  <dc:creator>Jorrit Poelen (UC Santa Barbara Cheadle Center, Ronin Institute)</dc:creator>
  <cp:keywords/>
  <dcterms:created xsi:type="dcterms:W3CDTF">2026-09-11T22:06:14Z</dcterms:created>
  <dcterms:modified xsi:type="dcterms:W3CDTF">2026-09-11T22:06:14Z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date">
    <vt:lpwstr>2026-09-11</vt:lpwstr>
  </property>
  <property fmtid="{D5CDD505-2E9C-101B-9397-08002B2CF9AE}" pid="4" name="subtitle">
    <vt:lpwstr>as reflected in data connections</vt:lpwstr>
  </property>
</Properties>
</file>